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anva Sans" panose="020B0604020202020204" charset="0"/>
      <p:regular r:id="rId3"/>
    </p:embeddedFont>
    <p:embeddedFont>
      <p:font typeface="Canva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40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727" y="152727"/>
            <a:ext cx="14814545" cy="1777017"/>
            <a:chOff x="0" y="0"/>
            <a:chExt cx="19752727" cy="236935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9752727" cy="2369356"/>
              <a:chOff x="0" y="0"/>
              <a:chExt cx="2654599" cy="31842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54599" cy="318421"/>
              </a:xfrm>
              <a:custGeom>
                <a:avLst/>
                <a:gdLst/>
                <a:ahLst/>
                <a:cxnLst/>
                <a:rect l="l" t="t" r="r" b="b"/>
                <a:pathLst>
                  <a:path w="2654599" h="318421">
                    <a:moveTo>
                      <a:pt x="18813" y="0"/>
                    </a:moveTo>
                    <a:lnTo>
                      <a:pt x="2635786" y="0"/>
                    </a:lnTo>
                    <a:cubicBezTo>
                      <a:pt x="2640776" y="0"/>
                      <a:pt x="2645561" y="1982"/>
                      <a:pt x="2649089" y="5510"/>
                    </a:cubicBezTo>
                    <a:cubicBezTo>
                      <a:pt x="2652617" y="9038"/>
                      <a:pt x="2654599" y="13824"/>
                      <a:pt x="2654599" y="18813"/>
                    </a:cubicBezTo>
                    <a:lnTo>
                      <a:pt x="2654599" y="299608"/>
                    </a:lnTo>
                    <a:cubicBezTo>
                      <a:pt x="2654599" y="304598"/>
                      <a:pt x="2652617" y="309383"/>
                      <a:pt x="2649089" y="312911"/>
                    </a:cubicBezTo>
                    <a:cubicBezTo>
                      <a:pt x="2645561" y="316439"/>
                      <a:pt x="2640776" y="318421"/>
                      <a:pt x="2635786" y="318421"/>
                    </a:cubicBezTo>
                    <a:lnTo>
                      <a:pt x="18813" y="318421"/>
                    </a:lnTo>
                    <a:cubicBezTo>
                      <a:pt x="13824" y="318421"/>
                      <a:pt x="9038" y="316439"/>
                      <a:pt x="5510" y="312911"/>
                    </a:cubicBezTo>
                    <a:cubicBezTo>
                      <a:pt x="1982" y="309383"/>
                      <a:pt x="0" y="304598"/>
                      <a:pt x="0" y="299608"/>
                    </a:cubicBezTo>
                    <a:lnTo>
                      <a:pt x="0" y="18813"/>
                    </a:lnTo>
                    <a:cubicBezTo>
                      <a:pt x="0" y="13824"/>
                      <a:pt x="1982" y="9038"/>
                      <a:pt x="5510" y="5510"/>
                    </a:cubicBezTo>
                    <a:cubicBezTo>
                      <a:pt x="9038" y="1982"/>
                      <a:pt x="13824" y="0"/>
                      <a:pt x="18813" y="0"/>
                    </a:cubicBezTo>
                    <a:close/>
                  </a:path>
                </a:pathLst>
              </a:custGeom>
              <a:solidFill>
                <a:srgbClr val="FEF3E3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57150"/>
                <a:ext cx="2654599" cy="3755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96000" y="96000"/>
              <a:ext cx="2273356" cy="2179200"/>
            </a:xfrm>
            <a:custGeom>
              <a:avLst/>
              <a:gdLst/>
              <a:ahLst/>
              <a:cxnLst/>
              <a:rect l="l" t="t" r="r" b="b"/>
              <a:pathLst>
                <a:path w="2273356" h="2179200">
                  <a:moveTo>
                    <a:pt x="0" y="0"/>
                  </a:moveTo>
                  <a:lnTo>
                    <a:pt x="2273356" y="0"/>
                  </a:lnTo>
                  <a:lnTo>
                    <a:pt x="2273356" y="2179200"/>
                  </a:lnTo>
                  <a:lnTo>
                    <a:pt x="0" y="217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320"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14362920" y="95078"/>
              <a:ext cx="5293807" cy="2179200"/>
              <a:chOff x="0" y="0"/>
              <a:chExt cx="799416" cy="32907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99416" cy="329076"/>
              </a:xfrm>
              <a:custGeom>
                <a:avLst/>
                <a:gdLst/>
                <a:ahLst/>
                <a:cxnLst/>
                <a:rect l="l" t="t" r="r" b="b"/>
                <a:pathLst>
                  <a:path w="799416" h="329076">
                    <a:moveTo>
                      <a:pt x="799416" y="62398"/>
                    </a:moveTo>
                    <a:lnTo>
                      <a:pt x="799416" y="266678"/>
                    </a:lnTo>
                    <a:cubicBezTo>
                      <a:pt x="799416" y="301139"/>
                      <a:pt x="771480" y="329076"/>
                      <a:pt x="737018" y="329076"/>
                    </a:cubicBezTo>
                    <a:lnTo>
                      <a:pt x="62398" y="329076"/>
                    </a:lnTo>
                    <a:cubicBezTo>
                      <a:pt x="27936" y="329076"/>
                      <a:pt x="0" y="301139"/>
                      <a:pt x="0" y="266678"/>
                    </a:cubicBezTo>
                    <a:lnTo>
                      <a:pt x="0" y="62398"/>
                    </a:lnTo>
                    <a:cubicBezTo>
                      <a:pt x="0" y="27936"/>
                      <a:pt x="27936" y="0"/>
                      <a:pt x="62398" y="0"/>
                    </a:cubicBezTo>
                    <a:lnTo>
                      <a:pt x="737018" y="0"/>
                    </a:lnTo>
                    <a:cubicBezTo>
                      <a:pt x="771480" y="0"/>
                      <a:pt x="799416" y="27936"/>
                      <a:pt x="799416" y="62398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799416" cy="3957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5039"/>
                  </a:lnSpc>
                </a:pPr>
                <a:r>
                  <a:rPr lang="en-US" sz="3599" b="1">
                    <a:solidFill>
                      <a:srgbClr val="FEF3E3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   School of</a:t>
                </a:r>
              </a:p>
              <a:p>
                <a:pPr algn="l">
                  <a:lnSpc>
                    <a:spcPts val="5599"/>
                  </a:lnSpc>
                </a:pPr>
                <a:r>
                  <a:rPr lang="en-US" sz="3999" b="1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   Engineering</a:t>
                </a:r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4582048" y="95494"/>
              <a:ext cx="7598338" cy="2178369"/>
            </a:xfrm>
            <a:custGeom>
              <a:avLst/>
              <a:gdLst/>
              <a:ahLst/>
              <a:cxnLst/>
              <a:rect l="l" t="t" r="r" b="b"/>
              <a:pathLst>
                <a:path w="7598338" h="2178369">
                  <a:moveTo>
                    <a:pt x="0" y="0"/>
                  </a:moveTo>
                  <a:lnTo>
                    <a:pt x="7598338" y="0"/>
                  </a:lnTo>
                  <a:lnTo>
                    <a:pt x="7598338" y="2178369"/>
                  </a:lnTo>
                  <a:lnTo>
                    <a:pt x="0" y="2178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941" t="-151695" r="-8738" b="-15878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2727" y="2073745"/>
            <a:ext cx="14814545" cy="1777017"/>
            <a:chOff x="0" y="0"/>
            <a:chExt cx="19752727" cy="236935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9752727" cy="2369356"/>
              <a:chOff x="0" y="0"/>
              <a:chExt cx="2654599" cy="31842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654599" cy="318421"/>
              </a:xfrm>
              <a:custGeom>
                <a:avLst/>
                <a:gdLst/>
                <a:ahLst/>
                <a:cxnLst/>
                <a:rect l="l" t="t" r="r" b="b"/>
                <a:pathLst>
                  <a:path w="2654599" h="318421">
                    <a:moveTo>
                      <a:pt x="18813" y="0"/>
                    </a:moveTo>
                    <a:lnTo>
                      <a:pt x="2635786" y="0"/>
                    </a:lnTo>
                    <a:cubicBezTo>
                      <a:pt x="2640776" y="0"/>
                      <a:pt x="2645561" y="1982"/>
                      <a:pt x="2649089" y="5510"/>
                    </a:cubicBezTo>
                    <a:cubicBezTo>
                      <a:pt x="2652617" y="9038"/>
                      <a:pt x="2654599" y="13824"/>
                      <a:pt x="2654599" y="18813"/>
                    </a:cubicBezTo>
                    <a:lnTo>
                      <a:pt x="2654599" y="299608"/>
                    </a:lnTo>
                    <a:cubicBezTo>
                      <a:pt x="2654599" y="304598"/>
                      <a:pt x="2652617" y="309383"/>
                      <a:pt x="2649089" y="312911"/>
                    </a:cubicBezTo>
                    <a:cubicBezTo>
                      <a:pt x="2645561" y="316439"/>
                      <a:pt x="2640776" y="318421"/>
                      <a:pt x="2635786" y="318421"/>
                    </a:cubicBezTo>
                    <a:lnTo>
                      <a:pt x="18813" y="318421"/>
                    </a:lnTo>
                    <a:cubicBezTo>
                      <a:pt x="13824" y="318421"/>
                      <a:pt x="9038" y="316439"/>
                      <a:pt x="5510" y="312911"/>
                    </a:cubicBezTo>
                    <a:cubicBezTo>
                      <a:pt x="1982" y="309383"/>
                      <a:pt x="0" y="304598"/>
                      <a:pt x="0" y="299608"/>
                    </a:cubicBezTo>
                    <a:lnTo>
                      <a:pt x="0" y="18813"/>
                    </a:lnTo>
                    <a:cubicBezTo>
                      <a:pt x="0" y="13824"/>
                      <a:pt x="1982" y="9038"/>
                      <a:pt x="5510" y="5510"/>
                    </a:cubicBezTo>
                    <a:cubicBezTo>
                      <a:pt x="9038" y="1982"/>
                      <a:pt x="13824" y="0"/>
                      <a:pt x="18813" y="0"/>
                    </a:cubicBezTo>
                    <a:close/>
                  </a:path>
                </a:pathLst>
              </a:custGeom>
              <a:solidFill>
                <a:srgbClr val="FEF3E3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57150"/>
                <a:ext cx="2654599" cy="3755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20961" y="19800"/>
              <a:ext cx="19510805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ED762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Smart Grocery Inventory, AI Recipes &amp; Meal Planner System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2777" y="1045845"/>
              <a:ext cx="16154802" cy="1254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Student Name (Enrollment Number) : </a:t>
              </a:r>
              <a:r>
                <a:rPr lang="en-US" sz="1799" b="1" dirty="0" err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Pritkumar</a:t>
              </a:r>
              <a:r>
                <a:rPr lang="en-US" sz="1799" b="1" dirty="0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Vekariya (22SE02IE059)</a:t>
              </a:r>
            </a:p>
            <a:p>
              <a:pPr>
                <a:lnSpc>
                  <a:spcPts val="2519"/>
                </a:lnSpc>
              </a:pPr>
              <a:r>
                <a:rPr lang="en-US" sz="1799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Mentor Name : </a:t>
              </a:r>
              <a:r>
                <a:rPr lang="en-US" sz="1799" b="1" dirty="0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Mr. Adarsh Kushwaha, Designation to Lecturer (SOE)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 and Institution Name : </a:t>
              </a:r>
              <a:r>
                <a:rPr lang="en-US" sz="1799" b="1" dirty="0" err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B.tech</a:t>
              </a:r>
              <a:r>
                <a:rPr lang="en-US" sz="1799" b="1" dirty="0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(IT&amp;E) School of Engineering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727" y="3993637"/>
            <a:ext cx="7336800" cy="4405329"/>
            <a:chOff x="0" y="0"/>
            <a:chExt cx="1314672" cy="78938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14672" cy="789385"/>
            </a:xfrm>
            <a:custGeom>
              <a:avLst/>
              <a:gdLst/>
              <a:ahLst/>
              <a:cxnLst/>
              <a:rect l="l" t="t" r="r" b="b"/>
              <a:pathLst>
                <a:path w="1314672" h="789385">
                  <a:moveTo>
                    <a:pt x="37988" y="0"/>
                  </a:moveTo>
                  <a:lnTo>
                    <a:pt x="1276684" y="0"/>
                  </a:lnTo>
                  <a:cubicBezTo>
                    <a:pt x="1297664" y="0"/>
                    <a:pt x="1314672" y="17008"/>
                    <a:pt x="1314672" y="37988"/>
                  </a:cubicBezTo>
                  <a:lnTo>
                    <a:pt x="1314672" y="751397"/>
                  </a:lnTo>
                  <a:cubicBezTo>
                    <a:pt x="1314672" y="761472"/>
                    <a:pt x="1310670" y="771135"/>
                    <a:pt x="1303545" y="778259"/>
                  </a:cubicBezTo>
                  <a:cubicBezTo>
                    <a:pt x="1296421" y="785383"/>
                    <a:pt x="1286759" y="789385"/>
                    <a:pt x="1276684" y="789385"/>
                  </a:cubicBezTo>
                  <a:lnTo>
                    <a:pt x="37988" y="789385"/>
                  </a:lnTo>
                  <a:cubicBezTo>
                    <a:pt x="27913" y="789385"/>
                    <a:pt x="18250" y="785383"/>
                    <a:pt x="11126" y="778259"/>
                  </a:cubicBezTo>
                  <a:cubicBezTo>
                    <a:pt x="4002" y="771135"/>
                    <a:pt x="0" y="761472"/>
                    <a:pt x="0" y="751397"/>
                  </a:cubicBezTo>
                  <a:lnTo>
                    <a:pt x="0" y="37988"/>
                  </a:lnTo>
                  <a:cubicBezTo>
                    <a:pt x="0" y="27913"/>
                    <a:pt x="4002" y="18250"/>
                    <a:pt x="11126" y="11126"/>
                  </a:cubicBezTo>
                  <a:cubicBezTo>
                    <a:pt x="18250" y="4002"/>
                    <a:pt x="27913" y="0"/>
                    <a:pt x="37988" y="0"/>
                  </a:cubicBezTo>
                  <a:close/>
                </a:path>
              </a:pathLst>
            </a:custGeom>
            <a:solidFill>
              <a:srgbClr val="FEF3E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314672" cy="84653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4899"/>
                </a:lnSpc>
              </a:pPr>
              <a:r>
                <a:rPr lang="en-US" sz="3499" b="1">
                  <a:solidFill>
                    <a:srgbClr val="ED762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INTRODUCTION</a:t>
              </a:r>
            </a:p>
            <a:p>
              <a:pPr algn="just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Modern households struggle with tracking groceries, planning meals, and managing shopping lists efficiently.</a:t>
              </a:r>
            </a:p>
            <a:p>
              <a:pPr algn="just">
                <a:lnSpc>
                  <a:spcPts val="2240"/>
                </a:lnSpc>
              </a:pPr>
              <a:endPara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Manual methods lead to</a:t>
              </a:r>
            </a:p>
            <a:p>
              <a:pPr marL="345448" lvl="1" indent="-172724" algn="l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Forgotten items</a:t>
              </a:r>
            </a:p>
            <a:p>
              <a:pPr marL="345448" lvl="1" indent="-172724" algn="l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Unplanned meals</a:t>
              </a:r>
            </a:p>
            <a:p>
              <a:pPr marL="345448" lvl="1" indent="-172724" algn="l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Food wastage</a:t>
              </a:r>
            </a:p>
            <a:p>
              <a:pPr marL="345448" lvl="1" indent="-172724" algn="l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Inefficient shopping</a:t>
              </a:r>
            </a:p>
            <a:p>
              <a:pPr algn="l">
                <a:lnSpc>
                  <a:spcPts val="2240"/>
                </a:lnSpc>
              </a:pPr>
              <a:endPara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just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GrocyGo is a </a:t>
              </a: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multi-platform system</a:t>
              </a: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(Web + Mobile + Backend + AI) designed to </a:t>
              </a: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automate</a:t>
              </a: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grocery tracking, meal suggestions, and shopping list creation.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2727" y="8541841"/>
            <a:ext cx="7336800" cy="2986104"/>
            <a:chOff x="0" y="0"/>
            <a:chExt cx="1314672" cy="5350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14672" cy="535076"/>
            </a:xfrm>
            <a:custGeom>
              <a:avLst/>
              <a:gdLst/>
              <a:ahLst/>
              <a:cxnLst/>
              <a:rect l="l" t="t" r="r" b="b"/>
              <a:pathLst>
                <a:path w="1314672" h="535076">
                  <a:moveTo>
                    <a:pt x="37988" y="0"/>
                  </a:moveTo>
                  <a:lnTo>
                    <a:pt x="1276684" y="0"/>
                  </a:lnTo>
                  <a:cubicBezTo>
                    <a:pt x="1297664" y="0"/>
                    <a:pt x="1314672" y="17008"/>
                    <a:pt x="1314672" y="37988"/>
                  </a:cubicBezTo>
                  <a:lnTo>
                    <a:pt x="1314672" y="497088"/>
                  </a:lnTo>
                  <a:cubicBezTo>
                    <a:pt x="1314672" y="507163"/>
                    <a:pt x="1310670" y="516826"/>
                    <a:pt x="1303545" y="523950"/>
                  </a:cubicBezTo>
                  <a:cubicBezTo>
                    <a:pt x="1296421" y="531074"/>
                    <a:pt x="1286759" y="535076"/>
                    <a:pt x="1276684" y="535076"/>
                  </a:cubicBezTo>
                  <a:lnTo>
                    <a:pt x="37988" y="535076"/>
                  </a:lnTo>
                  <a:cubicBezTo>
                    <a:pt x="27913" y="535076"/>
                    <a:pt x="18250" y="531074"/>
                    <a:pt x="11126" y="523950"/>
                  </a:cubicBezTo>
                  <a:cubicBezTo>
                    <a:pt x="4002" y="516826"/>
                    <a:pt x="0" y="507163"/>
                    <a:pt x="0" y="497088"/>
                  </a:cubicBezTo>
                  <a:lnTo>
                    <a:pt x="0" y="37988"/>
                  </a:lnTo>
                  <a:cubicBezTo>
                    <a:pt x="0" y="27913"/>
                    <a:pt x="4002" y="18250"/>
                    <a:pt x="11126" y="11126"/>
                  </a:cubicBezTo>
                  <a:cubicBezTo>
                    <a:pt x="18250" y="4002"/>
                    <a:pt x="27913" y="0"/>
                    <a:pt x="37988" y="0"/>
                  </a:cubicBezTo>
                  <a:close/>
                </a:path>
              </a:pathLst>
            </a:custGeom>
            <a:solidFill>
              <a:srgbClr val="FEF3E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314672" cy="592226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4899"/>
                </a:lnSpc>
              </a:pPr>
              <a:r>
                <a:rPr lang="en-US" sz="3499" b="1">
                  <a:solidFill>
                    <a:srgbClr val="ED762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OBJECTIVES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Track groceries with </a:t>
              </a: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quantity</a:t>
              </a: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, </a:t>
              </a: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expiry</a:t>
              </a: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, and </a:t>
              </a: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location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Suggest </a:t>
              </a: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AI-powered</a:t>
              </a: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recipes based on </a:t>
              </a: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8000+</a:t>
              </a: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dataset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Auto-generate smart shopping lists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Plan weekly meals (breakfast/lunch/dinner)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Reduce </a:t>
              </a: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food waste</a:t>
              </a: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with </a:t>
              </a: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expiry alerts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Provide analytics for usage and shopping patterns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Build a scalable multi-platform system </a:t>
              </a: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(React + Flutter + Node.js)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30473" y="3993637"/>
            <a:ext cx="7336800" cy="13816063"/>
            <a:chOff x="0" y="0"/>
            <a:chExt cx="1314672" cy="247568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14672" cy="2475683"/>
            </a:xfrm>
            <a:custGeom>
              <a:avLst/>
              <a:gdLst/>
              <a:ahLst/>
              <a:cxnLst/>
              <a:rect l="l" t="t" r="r" b="b"/>
              <a:pathLst>
                <a:path w="1314672" h="2475683">
                  <a:moveTo>
                    <a:pt x="37988" y="0"/>
                  </a:moveTo>
                  <a:lnTo>
                    <a:pt x="1276684" y="0"/>
                  </a:lnTo>
                  <a:cubicBezTo>
                    <a:pt x="1297664" y="0"/>
                    <a:pt x="1314672" y="17008"/>
                    <a:pt x="1314672" y="37988"/>
                  </a:cubicBezTo>
                  <a:lnTo>
                    <a:pt x="1314672" y="2437695"/>
                  </a:lnTo>
                  <a:cubicBezTo>
                    <a:pt x="1314672" y="2447770"/>
                    <a:pt x="1310670" y="2457432"/>
                    <a:pt x="1303545" y="2464556"/>
                  </a:cubicBezTo>
                  <a:cubicBezTo>
                    <a:pt x="1296421" y="2471680"/>
                    <a:pt x="1286759" y="2475683"/>
                    <a:pt x="1276684" y="2475683"/>
                  </a:cubicBezTo>
                  <a:lnTo>
                    <a:pt x="37988" y="2475683"/>
                  </a:lnTo>
                  <a:cubicBezTo>
                    <a:pt x="17008" y="2475683"/>
                    <a:pt x="0" y="2458675"/>
                    <a:pt x="0" y="2437695"/>
                  </a:cubicBezTo>
                  <a:lnTo>
                    <a:pt x="0" y="37988"/>
                  </a:lnTo>
                  <a:cubicBezTo>
                    <a:pt x="0" y="27913"/>
                    <a:pt x="4002" y="18250"/>
                    <a:pt x="11126" y="11126"/>
                  </a:cubicBezTo>
                  <a:cubicBezTo>
                    <a:pt x="18250" y="4002"/>
                    <a:pt x="27913" y="0"/>
                    <a:pt x="37988" y="0"/>
                  </a:cubicBezTo>
                  <a:close/>
                </a:path>
              </a:pathLst>
            </a:custGeom>
            <a:solidFill>
              <a:srgbClr val="FEF3E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314672" cy="253283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4899"/>
                </a:lnSpc>
              </a:pPr>
              <a:r>
                <a:rPr lang="en-US" sz="3499" b="1">
                  <a:solidFill>
                    <a:srgbClr val="ED762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METHODOLOGY</a:t>
              </a:r>
            </a:p>
            <a:p>
              <a:pPr algn="just">
                <a:lnSpc>
                  <a:spcPts val="2520"/>
                </a:lnSpc>
              </a:pPr>
              <a:r>
                <a:rPr lang="en-US" sz="1800" b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Tools &amp; Technologies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Frontend: React.js (Web), Flutter (Mobile)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Backend: Node.js + Express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 Engine: Dataset-based recipe filtering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Dataset: 8000+ recipes (CSV)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Charts: React charting libraries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Architecture: MVC + REST API</a:t>
              </a:r>
            </a:p>
            <a:p>
              <a:pPr algn="just">
                <a:lnSpc>
                  <a:spcPts val="2520"/>
                </a:lnSpc>
              </a:pPr>
              <a:endPara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just">
                <a:lnSpc>
                  <a:spcPts val="2520"/>
                </a:lnSpc>
              </a:pPr>
              <a:r>
                <a:rPr lang="en-US" sz="1800" b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Process Flow</a:t>
              </a:r>
            </a:p>
            <a:p>
              <a:pPr marL="388626" lvl="1" indent="-194313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Inventory Management</a:t>
              </a: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marL="388626" lvl="1" indent="-194313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Meal Planning</a:t>
              </a: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marL="388626" lvl="1" indent="-194313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Recipe Managment</a:t>
              </a: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marL="388626" lvl="1" indent="-194313" algn="just">
                <a:lnSpc>
                  <a:spcPts val="252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Analytics Generation</a:t>
              </a: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endPara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26" name="Freeform 26"/>
          <p:cNvSpPr/>
          <p:nvPr/>
        </p:nvSpPr>
        <p:spPr>
          <a:xfrm>
            <a:off x="8231225" y="7802992"/>
            <a:ext cx="3115175" cy="2017460"/>
          </a:xfrm>
          <a:custGeom>
            <a:avLst/>
            <a:gdLst/>
            <a:ahLst/>
            <a:cxnLst/>
            <a:rect l="l" t="t" r="r" b="b"/>
            <a:pathLst>
              <a:path w="3115175" h="2017460">
                <a:moveTo>
                  <a:pt x="0" y="0"/>
                </a:moveTo>
                <a:lnTo>
                  <a:pt x="3115175" y="0"/>
                </a:lnTo>
                <a:lnTo>
                  <a:pt x="3115175" y="2017460"/>
                </a:lnTo>
                <a:lnTo>
                  <a:pt x="0" y="2017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14" t="-6353" r="-3456" b="-2448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231225" y="10294732"/>
            <a:ext cx="3115175" cy="2099175"/>
          </a:xfrm>
          <a:custGeom>
            <a:avLst/>
            <a:gdLst/>
            <a:ahLst/>
            <a:cxnLst/>
            <a:rect l="l" t="t" r="r" b="b"/>
            <a:pathLst>
              <a:path w="3115175" h="2099175">
                <a:moveTo>
                  <a:pt x="0" y="0"/>
                </a:moveTo>
                <a:lnTo>
                  <a:pt x="3115175" y="0"/>
                </a:lnTo>
                <a:lnTo>
                  <a:pt x="3115175" y="2099175"/>
                </a:lnTo>
                <a:lnTo>
                  <a:pt x="0" y="2099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58" t="-5366" r="-3874" b="-23000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8183698" y="12786472"/>
            <a:ext cx="3115175" cy="1432502"/>
          </a:xfrm>
          <a:custGeom>
            <a:avLst/>
            <a:gdLst/>
            <a:ahLst/>
            <a:cxnLst/>
            <a:rect l="l" t="t" r="r" b="b"/>
            <a:pathLst>
              <a:path w="3115175" h="1432502">
                <a:moveTo>
                  <a:pt x="0" y="0"/>
                </a:moveTo>
                <a:lnTo>
                  <a:pt x="3115175" y="0"/>
                </a:lnTo>
                <a:lnTo>
                  <a:pt x="3115175" y="1432502"/>
                </a:lnTo>
                <a:lnTo>
                  <a:pt x="0" y="1432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906" t="-8899" r="-4875" b="-36405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734306" y="7869734"/>
            <a:ext cx="3115175" cy="1950718"/>
          </a:xfrm>
          <a:custGeom>
            <a:avLst/>
            <a:gdLst/>
            <a:ahLst/>
            <a:cxnLst/>
            <a:rect l="l" t="t" r="r" b="b"/>
            <a:pathLst>
              <a:path w="3115175" h="1950718">
                <a:moveTo>
                  <a:pt x="0" y="0"/>
                </a:moveTo>
                <a:lnTo>
                  <a:pt x="3115175" y="0"/>
                </a:lnTo>
                <a:lnTo>
                  <a:pt x="3115175" y="1950718"/>
                </a:lnTo>
                <a:lnTo>
                  <a:pt x="0" y="19507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375" t="-5804" r="-3957" b="-24046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1734306" y="10385143"/>
            <a:ext cx="3115175" cy="1620637"/>
          </a:xfrm>
          <a:custGeom>
            <a:avLst/>
            <a:gdLst/>
            <a:ahLst/>
            <a:cxnLst/>
            <a:rect l="l" t="t" r="r" b="b"/>
            <a:pathLst>
              <a:path w="3115175" h="1620637">
                <a:moveTo>
                  <a:pt x="0" y="0"/>
                </a:moveTo>
                <a:lnTo>
                  <a:pt x="3115175" y="0"/>
                </a:lnTo>
                <a:lnTo>
                  <a:pt x="3115175" y="1620637"/>
                </a:lnTo>
                <a:lnTo>
                  <a:pt x="0" y="16206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817" t="-7350" r="-4011" b="-32103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734306" y="12610439"/>
            <a:ext cx="3115175" cy="2188263"/>
          </a:xfrm>
          <a:custGeom>
            <a:avLst/>
            <a:gdLst/>
            <a:ahLst/>
            <a:cxnLst/>
            <a:rect l="l" t="t" r="r" b="b"/>
            <a:pathLst>
              <a:path w="3115175" h="2188263">
                <a:moveTo>
                  <a:pt x="0" y="0"/>
                </a:moveTo>
                <a:lnTo>
                  <a:pt x="3115175" y="0"/>
                </a:lnTo>
                <a:lnTo>
                  <a:pt x="3115175" y="2188263"/>
                </a:lnTo>
                <a:lnTo>
                  <a:pt x="0" y="21882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34" t="-4573" r="-2248" b="-21038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183698" y="14798702"/>
            <a:ext cx="6665783" cy="2732502"/>
          </a:xfrm>
          <a:custGeom>
            <a:avLst/>
            <a:gdLst/>
            <a:ahLst/>
            <a:cxnLst/>
            <a:rect l="l" t="t" r="r" b="b"/>
            <a:pathLst>
              <a:path w="6665783" h="2732502">
                <a:moveTo>
                  <a:pt x="0" y="0"/>
                </a:moveTo>
                <a:lnTo>
                  <a:pt x="6665783" y="0"/>
                </a:lnTo>
                <a:lnTo>
                  <a:pt x="6665783" y="2732502"/>
                </a:lnTo>
                <a:lnTo>
                  <a:pt x="0" y="27325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18" t="-6221" r="-2647" b="-26776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52727" y="11670821"/>
            <a:ext cx="7336800" cy="6138879"/>
            <a:chOff x="0" y="0"/>
            <a:chExt cx="1314672" cy="110001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14672" cy="1100018"/>
            </a:xfrm>
            <a:custGeom>
              <a:avLst/>
              <a:gdLst/>
              <a:ahLst/>
              <a:cxnLst/>
              <a:rect l="l" t="t" r="r" b="b"/>
              <a:pathLst>
                <a:path w="1314672" h="1100018">
                  <a:moveTo>
                    <a:pt x="37988" y="0"/>
                  </a:moveTo>
                  <a:lnTo>
                    <a:pt x="1276684" y="0"/>
                  </a:lnTo>
                  <a:cubicBezTo>
                    <a:pt x="1297664" y="0"/>
                    <a:pt x="1314672" y="17008"/>
                    <a:pt x="1314672" y="37988"/>
                  </a:cubicBezTo>
                  <a:lnTo>
                    <a:pt x="1314672" y="1062030"/>
                  </a:lnTo>
                  <a:cubicBezTo>
                    <a:pt x="1314672" y="1072105"/>
                    <a:pt x="1310670" y="1081767"/>
                    <a:pt x="1303545" y="1088892"/>
                  </a:cubicBezTo>
                  <a:cubicBezTo>
                    <a:pt x="1296421" y="1096016"/>
                    <a:pt x="1286759" y="1100018"/>
                    <a:pt x="1276684" y="1100018"/>
                  </a:cubicBezTo>
                  <a:lnTo>
                    <a:pt x="37988" y="1100018"/>
                  </a:lnTo>
                  <a:cubicBezTo>
                    <a:pt x="17008" y="1100018"/>
                    <a:pt x="0" y="1083010"/>
                    <a:pt x="0" y="1062030"/>
                  </a:cubicBezTo>
                  <a:lnTo>
                    <a:pt x="0" y="37988"/>
                  </a:lnTo>
                  <a:cubicBezTo>
                    <a:pt x="0" y="27913"/>
                    <a:pt x="4002" y="18250"/>
                    <a:pt x="11126" y="11126"/>
                  </a:cubicBezTo>
                  <a:cubicBezTo>
                    <a:pt x="18250" y="4002"/>
                    <a:pt x="27913" y="0"/>
                    <a:pt x="37988" y="0"/>
                  </a:cubicBezTo>
                  <a:close/>
                </a:path>
              </a:pathLst>
            </a:custGeom>
            <a:solidFill>
              <a:srgbClr val="FEF3E3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314672" cy="115716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just">
                <a:lnSpc>
                  <a:spcPts val="4899"/>
                </a:lnSpc>
              </a:pPr>
              <a:r>
                <a:rPr lang="en-US" sz="3499" b="1">
                  <a:solidFill>
                    <a:srgbClr val="ED762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RESULTS &amp; DISCUSSION</a:t>
              </a:r>
            </a:p>
            <a:p>
              <a:pPr algn="just">
                <a:lnSpc>
                  <a:spcPts val="2520"/>
                </a:lnSpc>
              </a:pPr>
              <a:r>
                <a:rPr lang="en-US" sz="1800" b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Outcomes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Automated tracking reduced manual effort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 suggestions improved meal decision-making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Shopping list accuracy increased with auto-generated items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Expiring items identified early → reduced waste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Analytics provided insights into category usage &amp; purchase behavior</a:t>
              </a:r>
            </a:p>
            <a:p>
              <a:pPr algn="just">
                <a:lnSpc>
                  <a:spcPts val="2520"/>
                </a:lnSpc>
              </a:pPr>
              <a:r>
                <a:rPr lang="en-US" sz="1800" b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Visual Results</a:t>
              </a:r>
            </a:p>
            <a:p>
              <a:pPr algn="just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Include: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Pie chart (Grocery categories)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Bar chart (Expiring items per month)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Line graph (Usage trends)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Table or screenshot examples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Small analytics dashboard preview</a:t>
              </a:r>
            </a:p>
            <a:p>
              <a:pPr algn="just">
                <a:lnSpc>
                  <a:spcPts val="2520"/>
                </a:lnSpc>
              </a:pPr>
              <a:r>
                <a:rPr lang="en-US" sz="1800" b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Performance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 suggestions responded &lt; 1 sec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Smooth UI across web and mobile</a:t>
              </a:r>
            </a:p>
            <a:p>
              <a:pPr marL="345448" lvl="1" indent="-172724" algn="just">
                <a:lnSpc>
                  <a:spcPts val="2240"/>
                </a:lnSpc>
                <a:buFont typeface="Arial"/>
                <a:buChar char="•"/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Efficient dataset filtering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2727" y="17952575"/>
            <a:ext cx="14814545" cy="3300429"/>
            <a:chOff x="0" y="0"/>
            <a:chExt cx="2654599" cy="591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654599" cy="591400"/>
            </a:xfrm>
            <a:custGeom>
              <a:avLst/>
              <a:gdLst/>
              <a:ahLst/>
              <a:cxnLst/>
              <a:rect l="l" t="t" r="r" b="b"/>
              <a:pathLst>
                <a:path w="2654599" h="591400">
                  <a:moveTo>
                    <a:pt x="18813" y="0"/>
                  </a:moveTo>
                  <a:lnTo>
                    <a:pt x="2635786" y="0"/>
                  </a:lnTo>
                  <a:cubicBezTo>
                    <a:pt x="2640776" y="0"/>
                    <a:pt x="2645561" y="1982"/>
                    <a:pt x="2649089" y="5510"/>
                  </a:cubicBezTo>
                  <a:cubicBezTo>
                    <a:pt x="2652617" y="9038"/>
                    <a:pt x="2654599" y="13824"/>
                    <a:pt x="2654599" y="18813"/>
                  </a:cubicBezTo>
                  <a:lnTo>
                    <a:pt x="2654599" y="572586"/>
                  </a:lnTo>
                  <a:cubicBezTo>
                    <a:pt x="2654599" y="577576"/>
                    <a:pt x="2652617" y="582361"/>
                    <a:pt x="2649089" y="585889"/>
                  </a:cubicBezTo>
                  <a:cubicBezTo>
                    <a:pt x="2645561" y="589418"/>
                    <a:pt x="2640776" y="591400"/>
                    <a:pt x="2635786" y="591400"/>
                  </a:cubicBezTo>
                  <a:lnTo>
                    <a:pt x="18813" y="591400"/>
                  </a:lnTo>
                  <a:cubicBezTo>
                    <a:pt x="13824" y="591400"/>
                    <a:pt x="9038" y="589418"/>
                    <a:pt x="5510" y="585889"/>
                  </a:cubicBezTo>
                  <a:cubicBezTo>
                    <a:pt x="1982" y="582361"/>
                    <a:pt x="0" y="577576"/>
                    <a:pt x="0" y="572586"/>
                  </a:cubicBezTo>
                  <a:lnTo>
                    <a:pt x="0" y="18813"/>
                  </a:lnTo>
                  <a:cubicBezTo>
                    <a:pt x="0" y="13824"/>
                    <a:pt x="1982" y="9038"/>
                    <a:pt x="5510" y="5510"/>
                  </a:cubicBezTo>
                  <a:cubicBezTo>
                    <a:pt x="9038" y="1982"/>
                    <a:pt x="13824" y="0"/>
                    <a:pt x="18813" y="0"/>
                  </a:cubicBezTo>
                  <a:close/>
                </a:path>
              </a:pathLst>
            </a:custGeom>
            <a:solidFill>
              <a:srgbClr val="FEF3E3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2654599" cy="65807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just">
                <a:lnSpc>
                  <a:spcPts val="4900"/>
                </a:lnSpc>
              </a:pPr>
              <a:r>
                <a:rPr lang="en-US" sz="3500" b="1">
                  <a:solidFill>
                    <a:srgbClr val="ED762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CONCLUSION</a:t>
              </a:r>
            </a:p>
            <a:p>
              <a:pPr algn="just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GrocyGo successfully provides an intelligent, user-friendly solution for household grocery management.</a:t>
              </a:r>
            </a:p>
            <a:p>
              <a:pPr algn="just">
                <a:lnSpc>
                  <a:spcPts val="2240"/>
                </a:lnSpc>
              </a:pPr>
              <a:endParaRPr lang="en-US" sz="1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520"/>
                </a:lnSpc>
              </a:pPr>
              <a:r>
                <a:rPr lang="en-US" sz="1800" b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It integrates Web, Mobile, Backend, and AI to deliver:</a:t>
              </a:r>
            </a:p>
            <a:p>
              <a:pPr marL="345439" lvl="1" indent="-172720" algn="just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Smart inventory</a:t>
              </a:r>
            </a:p>
            <a:p>
              <a:pPr marL="345439" lvl="1" indent="-172720" algn="just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Efficient meal planning</a:t>
              </a:r>
            </a:p>
            <a:p>
              <a:pPr marL="345439" lvl="1" indent="-172720" algn="just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Accurate shopping lists</a:t>
              </a:r>
            </a:p>
            <a:p>
              <a:pPr marL="345439" lvl="1" indent="-172720" algn="just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Useful analytics</a:t>
              </a:r>
            </a:p>
            <a:p>
              <a:pPr marL="345439" lvl="1" indent="-172720" algn="just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Reduced food wastage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97908" y="19293403"/>
            <a:ext cx="3610633" cy="1870732"/>
            <a:chOff x="0" y="0"/>
            <a:chExt cx="646985" cy="33521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46985" cy="335214"/>
            </a:xfrm>
            <a:custGeom>
              <a:avLst/>
              <a:gdLst/>
              <a:ahLst/>
              <a:cxnLst/>
              <a:rect l="l" t="t" r="r" b="b"/>
              <a:pathLst>
                <a:path w="646985" h="335214">
                  <a:moveTo>
                    <a:pt x="0" y="0"/>
                  </a:moveTo>
                  <a:lnTo>
                    <a:pt x="646985" y="0"/>
                  </a:lnTo>
                  <a:lnTo>
                    <a:pt x="646985" y="335214"/>
                  </a:lnTo>
                  <a:lnTo>
                    <a:pt x="0" y="335214"/>
                  </a:lnTo>
                  <a:close/>
                </a:path>
              </a:pathLst>
            </a:custGeom>
            <a:solidFill>
              <a:srgbClr val="FEF3E3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646985" cy="363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Future Enhancements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Barcode/QR scanning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Voice assistant integration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Cloud database &amp; real-time sync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 nutritional analysis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 grocery ordering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798915" y="18739873"/>
            <a:ext cx="4050566" cy="2424262"/>
            <a:chOff x="0" y="0"/>
            <a:chExt cx="725816" cy="434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25816" cy="434400"/>
            </a:xfrm>
            <a:custGeom>
              <a:avLst/>
              <a:gdLst/>
              <a:ahLst/>
              <a:cxnLst/>
              <a:rect l="l" t="t" r="r" b="b"/>
              <a:pathLst>
                <a:path w="725816" h="434400">
                  <a:moveTo>
                    <a:pt x="0" y="0"/>
                  </a:moveTo>
                  <a:lnTo>
                    <a:pt x="725816" y="0"/>
                  </a:lnTo>
                  <a:lnTo>
                    <a:pt x="725816" y="434400"/>
                  </a:lnTo>
                  <a:lnTo>
                    <a:pt x="0" y="434400"/>
                  </a:lnTo>
                  <a:close/>
                </a:path>
              </a:pathLst>
            </a:custGeom>
            <a:solidFill>
              <a:srgbClr val="FEF3E3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725816" cy="46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Applications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Smart kitchens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Hostel/PG food management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Small restaurants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Family grocery coordination</a:t>
              </a:r>
            </a:p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F5B6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Limitations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Dataset-based AI (not deep-learning)</a:t>
              </a:r>
            </a:p>
            <a:p>
              <a:pPr marL="345439" lvl="1" indent="-172720" algn="l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 cloud-based multi-user sync yet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298873" y="7514578"/>
            <a:ext cx="3550608" cy="5109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17" lvl="1" indent="-194308" algn="l">
              <a:lnSpc>
                <a:spcPts val="2519"/>
              </a:lnSpc>
              <a:buFont typeface="Arial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Shopping List </a:t>
            </a:r>
            <a:r>
              <a:rPr lang="en-US" sz="17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Managment</a:t>
            </a: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88617" lvl="1" indent="-194308" algn="l">
              <a:lnSpc>
                <a:spcPts val="2519"/>
              </a:lnSpc>
              <a:buFont typeface="Arial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Notification </a:t>
            </a:r>
            <a:r>
              <a:rPr lang="en-US" sz="17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Managment</a:t>
            </a: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88617" lvl="1" indent="-194308" algn="l">
              <a:lnSpc>
                <a:spcPts val="2519"/>
              </a:lnSpc>
              <a:buFont typeface="Arial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</a:t>
            </a:r>
            <a:r>
              <a:rPr lang="en-US" sz="17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Suggetion</a:t>
            </a:r>
            <a:r>
              <a:rPr lang="en-US" sz="17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Engine</a:t>
            </a:r>
          </a:p>
        </p:txBody>
      </p:sp>
      <p:sp>
        <p:nvSpPr>
          <p:cNvPr id="46" name="AutoShape 46"/>
          <p:cNvSpPr/>
          <p:nvPr/>
        </p:nvSpPr>
        <p:spPr>
          <a:xfrm flipH="1" flipV="1">
            <a:off x="6406858" y="19602790"/>
            <a:ext cx="0" cy="1461452"/>
          </a:xfrm>
          <a:prstGeom prst="line">
            <a:avLst/>
          </a:prstGeom>
          <a:ln w="38100" cap="flat">
            <a:gradFill>
              <a:gsLst>
                <a:gs pos="0">
                  <a:srgbClr val="0F5B67">
                    <a:alpha val="100000"/>
                  </a:srgbClr>
                </a:gs>
                <a:gs pos="100000">
                  <a:srgbClr val="ED7626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7" name="AutoShape 47"/>
          <p:cNvSpPr/>
          <p:nvPr/>
        </p:nvSpPr>
        <p:spPr>
          <a:xfrm flipH="1" flipV="1">
            <a:off x="10734156" y="18932398"/>
            <a:ext cx="0" cy="2131844"/>
          </a:xfrm>
          <a:prstGeom prst="line">
            <a:avLst/>
          </a:prstGeom>
          <a:ln w="38100" cap="flat">
            <a:gradFill>
              <a:gsLst>
                <a:gs pos="0">
                  <a:srgbClr val="0F5B67">
                    <a:alpha val="100000"/>
                  </a:srgbClr>
                </a:gs>
                <a:gs pos="100000">
                  <a:srgbClr val="ED7626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7350" y="14435105"/>
            <a:ext cx="1704793" cy="1673349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7499" y="15898270"/>
            <a:ext cx="3623004" cy="2213348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0226" y="14548558"/>
            <a:ext cx="1918211" cy="1545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412</Words>
  <Application>Microsoft Office PowerPoint</Application>
  <PresentationFormat>Custom</PresentationFormat>
  <Paragraphs>121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Canva Sans Bold</vt:lpstr>
      <vt:lpstr>Canva Sans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School Engineering</dc:title>
  <cp:lastModifiedBy>Prit Vekariya</cp:lastModifiedBy>
  <cp:revision>3</cp:revision>
  <dcterms:created xsi:type="dcterms:W3CDTF">2006-08-16T00:00:00Z</dcterms:created>
  <dcterms:modified xsi:type="dcterms:W3CDTF">2025-11-24T04:58:40Z</dcterms:modified>
  <dc:identifier>DAG5JLKWiz4</dc:identifier>
</cp:coreProperties>
</file>